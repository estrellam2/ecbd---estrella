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3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s-MX" sz="1300" b="0" i="0" u="none" strike="noStrike">
                <a:solidFill>
                  <a:srgbClr val="21295C"/>
                </a:solidFill>
                <a:latin typeface="Arial"/>
              </a:rPr>
              <a:t>Correlación de variables numéricas con el precio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 con el precio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Ingreso mediano</c:v>
                </c:pt>
                <c:pt idx="1">
                  <c:v>Total de cuartos</c:v>
                </c:pt>
                <c:pt idx="2">
                  <c:v>Antigüedad</c:v>
                </c:pt>
                <c:pt idx="3">
                  <c:v>Hogares</c:v>
                </c:pt>
                <c:pt idx="4">
                  <c:v>Población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</c:v>
                </c:pt>
                <c:pt idx="1">
                  <c:v>0.13</c:v>
                </c:pt>
                <c:pt idx="2">
                  <c:v>0.11</c:v>
                </c:pt>
                <c:pt idx="3">
                  <c:v>7.0000000000000007E-2</c:v>
                </c:pt>
                <c:pt idx="4">
                  <c:v>-0.02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4B-41D4-BA26-C33FDF4A5A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s-MX" sz="1300" b="0" i="0" u="none" strike="noStrike">
                <a:solidFill>
                  <a:srgbClr val="21295C"/>
                </a:solidFill>
                <a:latin typeface="Arial"/>
              </a:rPr>
              <a:t>Error de predicción (RMSE) en set de prueba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(USD, menor es mejor)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Regresión Lineal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70059</c:v>
                </c:pt>
                <c:pt idx="1">
                  <c:v>49316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13-47CA-8E66-C54563D2EB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9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37744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MACHINE LEARNING · PRODUCTO 2DO. PARCIAL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del Valor de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Vivienda en California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de hallazgos de un modelo de regresión predictiva para apoyar decisiones de inversión y tasación inmobiliaria.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valor de una vivienda de forma rápida, consistente y escalable — sin depender únicamente de tasadores manuales.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9AAF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analítico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valor mediano de vivienda por distrito a partir de ingreso, ubicación y características estructurales, usando un modelo de regresión supervisada.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9AAF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que habilita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distritos con potencial de plusvalía y dar una primera estimación automática de precio antes de la tasación formal.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9AAF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esperado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tiempos de análisis y estandarizar criterios de inversión con evidencia cuantitativa, no solo intuición.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20,640 distritos censales de California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270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20,640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 analizados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270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258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5270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258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(imputados)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270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2258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train /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objetivo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median_house_value — valor mediano de vivienda del distrito (USD), basado en el censo de California de 1990.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predictoras clave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mediano del distrito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(longitud / latitud)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y tamaño de la vivienda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 al océano (categórica)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hogares del distrito</a:t>
            </a:r>
            <a:endParaRPr lang="en-US" sz="1250" dirty="0"/>
          </a:p>
        </p:txBody>
      </p:sp>
      <p:pic>
        <p:nvPicPr>
          <p:cNvPr id="19" name="Image 0" descr="mapa_geogra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0896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26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vivienda por ubicación geográfica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determina el precio de una vivienda?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FC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ingreso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distrito y precio de vivienda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variable individual con mayor relación con el precio: a mayor ingreso mediano de la zona, mayor valor de vivienda. La ubicación geográfica —costa vs. interior— es el segundo factor más relevante.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943600" y="1280160"/>
          <a:ext cx="56692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modelo: Random Forest supera al enfoque lineal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compararon dos algoritmos de regresión con validación cruzada (5-fold) sobre el set de entrenamiento.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Random Forest?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22860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relaciones no lineales entre ubicación e ingreso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ante outliers y variables en distintas escalas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RMSE en ~30% frente al modelo lineal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397764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final (set de prueba)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4480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$32,157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83680" y="5074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66760" y="4480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$49,316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66760" y="5074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149840" y="4480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149840" y="5074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5577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81% de la variabilidad del precio de vivienda.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tan bien predice el modelo?</a:t>
            </a:r>
            <a:endParaRPr lang="en-US" sz="2600" dirty="0"/>
          </a:p>
        </p:txBody>
      </p:sp>
      <p:pic>
        <p:nvPicPr>
          <p:cNvPr id="3" name="Image 0" descr="real_vs_predic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512064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035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vs. valor predicho — set de prueba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309360" y="123444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F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del resultado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19659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se concentran cerca de la línea de predicción perfecta: el modelo acierta consistentemente en la mayoría de los rangos de precio.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0" y="3337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promedio (MAE) es de $32,157 — razonable considerando que los precios van de $15,000 a más de $500,000.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el modelo tiende a subestimar viviendas de muy alto valor, ya que los datos originales de 1990 tienen un tope reportado de ~$500,000.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uso: predicción en un distrito nuevo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pipeline (imputación, escalado, codificación) usado en entrenamiento se aplica a un distrito nunca visto por el modelo.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4297680"/>
          </a:xfrm>
          <a:prstGeom prst="roundRect">
            <a:avLst>
              <a:gd name="adj" fmla="val 2553"/>
            </a:avLst>
          </a:prstGeom>
          <a:solidFill>
            <a:srgbClr val="1A4A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Distrito de ejemplo — cerca de San Francisco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mediano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$65,000 / año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 vivienda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0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años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 al océano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36941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261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del distrito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4261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hab.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828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4828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4937760" cy="4297680"/>
          </a:xfrm>
          <a:prstGeom prst="roundRect">
            <a:avLst>
              <a:gd name="adj" fmla="val 255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PREDICHO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26974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$366,413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949440" y="402336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el patrón identificado en el EDA: alto ingreso + cercanía a la bahía → mayor valor de vivienda.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5303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flujo puede automatizarse como primer filtro de tasación antes de una evaluación formal en campo.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para el equipo directivo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como primer filtro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modelo como estimación automática previa a la tasación formal, acelerando decisiones de inversión.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Priorizar por ingreso y ubicación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 la búsqueda de oportunidades en distritos con ingreso creciente y buena posición geográfica.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Re-entrenar con datos actuales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de 1990: los patrones relativos son válidos, pero los montos deben actualizarse con datos recientes.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limitaciones a considerar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están basados en el censo de 1990 y tienen un tope censurado (~$500,000): el modelo subestima propiedades de lujo.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variables como estado físico de la propiedad, tasas de interés actuales o características internas específicas.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monitoreo periódico (model drift) si se usa en producción con datos de mercado actuales.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Valor de Vivienda · Modelos de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de datos puede reducir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incertidumbre en decisiones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inversión inmobiliaria.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R² = 0.814 · MAE = $32,157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841</Words>
  <Application>Microsoft Office PowerPoint</Application>
  <PresentationFormat>Panorámica</PresentationFormat>
  <Paragraphs>112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rosy estrella morales soto</cp:lastModifiedBy>
  <cp:revision>2</cp:revision>
  <dcterms:created xsi:type="dcterms:W3CDTF">2026-07-17T19:03:15Z</dcterms:created>
  <dcterms:modified xsi:type="dcterms:W3CDTF">2026-08-04T02:23:23Z</dcterms:modified>
</cp:coreProperties>
</file>